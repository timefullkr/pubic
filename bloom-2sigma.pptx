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2651760"/>
            <a:ext cx="4023360" cy="3931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0" b="1" i="0">
                <a:solidFill>
                  <a:srgbClr val="173B5C"/>
                </a:solidFill>
                <a:latin typeface="맑은 고딕"/>
                <a:ea typeface="맑은 고딕"/>
                <a:cs typeface="맑은 고딕"/>
              </a:rPr>
              <a:t>2σ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이론적 배경 · 핵심공약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초개별화 맞춤형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블룸의 ‘2 시그마 문제’와 AI — 고의숙 교육감 핵심공약의 이론적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897880"/>
            <a:ext cx="2011680" cy="4572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제주도교육인수위원회 · 미래학력분과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2011680" cy="7315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 — ‘2 시그마’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493776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2σ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2148840"/>
            <a:ext cx="54864" cy="265176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72200" y="1965960"/>
            <a:ext cx="5212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1:1 개인교습을 받은 학생은 집단수업보다 약 2 표준편차 높은 성취를 낸다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그러나 개인교습을 모든 학생에게 제공하기엔 비용이 너무 크다 — 블룸(1984)이 던진 ‘2 시그마 문제’.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실험 설계 — 세 조건 무작위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029200" cy="3977639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434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시카고대 아나니아·버크(1982~84)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4·5·8학년, 3주·11차시 반복 검증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초기 적성·수업시간 동일하게 통제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5029200" cy="3977639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57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세 가지 학습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434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① 전통 집단수업 (교사 1 : 다수)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② 완전학습 (형성평가 + 교정)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③ 1:1·소집단 개인교습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결과 — ‘2 시그마’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37215" cy="2075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조건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성취(전통 대비)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도달률</a:t>
                      </a:r>
                    </a:p>
                  </a:txBody>
                  <a:tcPr marL="137160" marR="109728" marT="27432" marB="27432" anchor="ctr"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전통 집단수업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20%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완전학습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+1σ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</a:t>
                      </a:r>
                    </a:p>
                  </a:txBody>
                  <a:tcPr marL="137160" marR="109728" marT="27432" marB="27432" anchor="ctr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1:1 개인교습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+2σ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A3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</a:t>
                      </a:r>
                    </a:p>
                  </a:txBody>
                  <a:tcPr marL="137160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핵심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무엇을 뜻하는가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타고난 적성보다 ‘학습 조건’이 성취를 결정한다 (적성–성취 상관 +.60 → +.25)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대부분의 학생이 높은 수준에 도달할 잠재력을 가지고 있다 — 블룸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핵심 과제: 1:1 교습에 근접하면서도 대규모로 가능한 방법을 찾는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9692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일대일 개인교습에 근접한 효과를 내면서도, 대규모로 실현 가능한 집단 교수·학습 조건을 찾을 수 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12064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— Benjamin Bloom, ‘The 2 Sigma Problem’ (1984)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2011680" cy="7315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해법 — AI, 고전에서 실증으로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현대적 실증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① 생성형 AI 이전 — 지능형 튜터링(ITS)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VanLehn(2011): 단계형 ITS는 인간 교사에 근접한 효과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Kulik &amp; Fletcher(2016): ITS 중앙값 +0.66σ, 92% 연구에서 전통수업 능가</a:t>
            </a:r>
          </a:p>
          <a:p>
            <a:pPr algn="l" lvl="1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‘2σ’는 인간만의 값이 아니라, 잘 설계된 기술로 좁힐 수 있는 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현대적 실증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② 생성형 AI 시대(2023~) — 무작위통제연구(RCT)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Kestin 외(2025, 하버드): 잘 설계된 AI 튜터가 활동중심 수업보다 2배 이상 학습 이득 — 더 짧은 시간에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나이지리아 대규모 RCT(World Bank, 2024): 생성형 AI 튜터 영어수업, 유의한 성취 향상</a:t>
            </a:r>
          </a:p>
          <a:p>
            <a:pPr algn="l" lvl="1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공통점 — “AI를 쓰면”이 아니라 “잘 설계된 AI가” 오른다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어떻게 2σ를 푸는가 — 작동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생성형 AI = 자연어 대화 + 실시간 적응 + 낮은 한계비용 → 블룸의 ‘비용 장벽’을 낮춘다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AI는 학생마다 숙달을 향해 「형성평가 → 교정」 루프를 도는 개인 튜터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교사는 서로 다른 속도의 여러 학생을 조율하는 지휘자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초개별화 = 완전학습의 개별화 + AI 적응형 대화를, 대규모로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그러나 신중하게 — ‘콘텐츠’가 아니라 ‘조건’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16736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029200" cy="3977639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무엇에 투자하나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434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ⓐ 좋은 재료 — 고성능 AI의 공적 보장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ⓑ 좋은 주방 — 도구·전량 기록·환류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ⓒ 교사 역량 — 좋은 수업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5029200" cy="3977639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57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무엇이 아닌가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434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제주가 콘텐츠를 직접 찍어내는 일이 아니다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콘텐츠는 교사·확장 생태계의 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근거는 축적 중 → 자체 시범으로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2011680" cy="7315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제주 초개별화로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2A44"/>
                </a:solidFill>
                <a:latin typeface="맑은 고딕"/>
                <a:ea typeface="맑은 고딕"/>
                <a:cs typeface="맑은 고딕"/>
              </a:rPr>
              <a:t>시사점 — 핵심공약과의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920240" cy="50292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AI가 ‘2 시그마 문제’의 현실적 해법 — 공약의 논리적 출발점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초개별화의 이론적 뿌리 = 블룸 완전학습(형성평가+교정)의 AI·디지털 구현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형평성: “적성보다 학습 조건” → AI 접근 공적 보장이 출발선·격차 해소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850" b="0" i="0">
                <a:solidFill>
                  <a:srgbClr val="1B2A38"/>
                </a:solidFill>
                <a:latin typeface="맑은 고딕"/>
                <a:ea typeface="맑은 고딕"/>
                <a:cs typeface="맑은 고딕"/>
              </a:rPr>
              <a:t>목표: “대부분의 학생이 높은 수준 도달 가능” = ‘한 아이도 놓치지 않는’ 책임교육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블룸 2σ · 초개별화 맞춤형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B8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C5B0"/>
                </a:solidFill>
                <a:latin typeface="맑은 고딕"/>
                <a:ea typeface="맑은 고딕"/>
                <a:cs typeface="맑은 고딕"/>
              </a:rPr>
              <a:t>한 줄로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블룸(1984)이 비용 때문에 미룬 ‘1:1 교습의 대규모 실현’을, AI가 실시간 개별화와 환류로 푼다 — 학생 한 명 한 명에게 개인교습에 준하는 조건을, 대규모로.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806440"/>
            <a:ext cx="2011680" cy="45720"/>
          </a:xfrm>
          <a:prstGeom prst="rect">
            <a:avLst/>
          </a:prstGeom>
          <a:solidFill>
            <a:srgbClr val="1C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7D5E2"/>
                </a:solidFill>
                <a:latin typeface="맑은 고딕"/>
                <a:ea typeface="맑은 고딕"/>
                <a:cs typeface="맑은 고딕"/>
              </a:rPr>
              <a:t>제주도교육인수위원회 · 미래학력분과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